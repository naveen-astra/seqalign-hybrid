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3" r:id="rId18"/>
    <p:sldId id="274" r:id="rId19"/>
    <p:sldId id="275" r:id="rId20"/>
    <p:sldId id="276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82152-E423-6077-41A5-6596A0B43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310E1-5D0F-31FD-D685-076979984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D4209-562B-69D0-7B72-62C195489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E872B-CA68-0632-089A-8B17E15E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E6332-8A25-7F6E-64DD-4B7F974BA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69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D9D5C-720A-489E-71DD-56D5D897A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A7E96-6289-84FE-E69B-9E1EA27D5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602ED-CE2E-4FBE-BEC0-677EC7BD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F894B-B669-9A7D-3C9F-351FEBCE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785BF-71A4-9FA1-DB3F-C16559D5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4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A076-107F-BC59-058A-20C9DC58A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E5736-2D34-BD11-E57E-0747AC3C2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F5C89-86CE-F5AE-8E63-E4498A081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C9383-6925-CA8C-7795-25FD5D0E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1CA4F-E2E0-9E4F-AD81-20832430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756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7525-0FB9-B8E0-A093-B564172A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433DC-654D-D65D-E595-AC744892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A4D05-C3BE-BE56-7434-98095FB63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33F23-3D36-17F9-3F5B-925533F1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6BC52-AB14-1E3E-CB31-FC65615A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D5E67-59BF-29EE-4B1F-FD068AE5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38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3EBC-01BA-F554-351E-07CA15485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A9B19-994D-5825-B72F-926BA41E8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F3592-C49B-7657-91AE-5CFCDBDF4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C2430-B648-EEB8-B59A-EAC17C762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81B15-1524-A4D8-1001-CDB900124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9BB2D-335C-1E32-152C-6BEC5810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DEC90-02BE-2300-CC0B-AB7F9184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6F31F6-931A-497E-892E-DA72E06E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60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22AD-7484-4005-6E3A-0E482E08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A430A8-3D0C-338F-FB75-C7D98975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F1B1DB-B81D-4001-4261-9B3433927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2BAC0-696D-3C96-80E1-17B78CF0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7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6FC140-9433-63C9-EE0E-16FA7257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290DA2-6280-B425-B1B6-95C82492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D3094-82F5-C3E9-89D5-3490A6FB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11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CC2D-5430-9604-9E4A-06F89042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83688-5E7F-2B29-B83D-7627581CC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85708-573F-C7E3-A0EC-B2C33E56E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E0AE1-45AD-955F-65F4-51C2D44EF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45054-2702-3A86-7BBD-5D6B5CB09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F5A3E-B8FB-9B32-A35F-0A2D2978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53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FE75-9E70-5FB7-E41A-381D7A256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30BB6-4D80-CB8A-FA9C-C40A0F925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7DA7C-CEB1-27E6-13F6-A30D8FAA1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220B6-2FC6-EA67-7B53-D9A3D654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31721-6777-B806-7D4F-7E2C32D1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63BD5-601E-0567-FBC9-D633AF80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21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724C1-428F-D520-B9EC-725A94B6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0520F-6B62-E51B-FF8D-ABE0032B5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C0719-AD90-70E0-E2D3-FDCDCFC1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CFF4F-6C56-1469-EE2D-E54FA43D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98DD1-5145-2CA0-2956-7364857B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78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082D3-87AF-7D42-B1CB-2527EBEA9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416C1-065B-FEC7-E32D-2ADD5FC7E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62BD2-88E1-F565-A775-EDA22D2AF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B9199-B023-517A-E934-BF4802F3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02223-2392-E35A-CB27-C28F40FC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10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2FC5F-4D07-2825-122D-86EBC679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1E275-6227-9408-10B9-F6EA8059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A2044-E0B5-B379-5112-E17DC58C3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DDA2C-41D1-4B48-9EF1-86650B69155A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D4409-A221-D39F-E429-92F7FACC6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8EE7D-1780-D714-A78B-A6FE02B6D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D24AF-2D61-4DBF-842E-953A8C134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942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138571-B0E1-8D94-2516-88560E2455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30236" r="-7" b="19217"/>
          <a:stretch/>
        </p:blipFill>
        <p:spPr>
          <a:xfrm>
            <a:off x="20" y="18544"/>
            <a:ext cx="12191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910" y="362957"/>
            <a:ext cx="5234705" cy="4585411"/>
          </a:xfrm>
          <a:solidFill>
            <a:schemeClr val="bg1"/>
          </a:solidFill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Genome Sequence Alignment with SSAHA &amp; Smith-Waterman</a:t>
            </a:r>
            <a:br>
              <a:rPr lang="en-US" sz="4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GROUP 4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908" y="4572000"/>
            <a:ext cx="5234705" cy="1923043"/>
          </a:xfr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Font typeface="Wingdings 2,Sans-Serif"/>
              <a:buChar char=""/>
            </a:pPr>
            <a:r>
              <a:rPr lang="en-US" sz="1400" cap="all" dirty="0" err="1">
                <a:latin typeface="Franklin Gothic Book"/>
              </a:rPr>
              <a:t>kISHORE</a:t>
            </a:r>
            <a:r>
              <a:rPr lang="en-US" sz="1400" cap="all" dirty="0">
                <a:latin typeface="Franklin Gothic Book"/>
              </a:rPr>
              <a:t> B-CB.SC.U4AIE23139</a:t>
            </a:r>
            <a:endParaRPr lang="en-US" sz="1400" dirty="0">
              <a:latin typeface="Franklin Gothic Book"/>
            </a:endParaRP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Font typeface="Wingdings 2,Sans-Serif"/>
              <a:buChar char=""/>
            </a:pPr>
            <a:r>
              <a:rPr lang="en-US" sz="1400" cap="all" dirty="0">
                <a:latin typeface="Franklin Gothic Book"/>
              </a:rPr>
              <a:t>KOUSHAL REDDY M-CB.SC.U4AIE23145</a:t>
            </a:r>
            <a:endParaRPr lang="en-US" sz="1400" dirty="0">
              <a:latin typeface="Franklin Gothic Book"/>
            </a:endParaRP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Font typeface="Wingdings 2,Sans-Serif"/>
              <a:buChar char=""/>
            </a:pPr>
            <a:r>
              <a:rPr lang="en-US" sz="1400" cap="all" dirty="0">
                <a:latin typeface="Franklin Gothic Book"/>
              </a:rPr>
              <a:t>NAVEEN BABU M S-CB.SC.U4AIE23153</a:t>
            </a:r>
            <a:endParaRPr lang="en-US" sz="1400" dirty="0">
              <a:latin typeface="Franklin Gothic Book"/>
            </a:endParaRP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Font typeface="Wingdings 2,Sans-Serif"/>
              <a:buChar char=""/>
            </a:pPr>
            <a:r>
              <a:rPr lang="en-US" sz="1400" cap="all" dirty="0">
                <a:latin typeface="Franklin Gothic Book"/>
              </a:rPr>
              <a:t>SAI CHARAN M-CB.SC.U4AIE23143</a:t>
            </a:r>
            <a:endParaRPr lang="en-US" sz="1400" dirty="0">
              <a:latin typeface="Franklin Gothic Book"/>
            </a:endParaRP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DC9B51-547B-37C9-EC9E-DA1C90663412}"/>
              </a:ext>
            </a:extLst>
          </p:cNvPr>
          <p:cNvSpPr txBox="1"/>
          <p:nvPr/>
        </p:nvSpPr>
        <p:spPr>
          <a:xfrm>
            <a:off x="438909" y="4572000"/>
            <a:ext cx="3231048" cy="376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TEAM MEMBERS: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FEF4-8DC8-53EA-3EB8-1B921AD35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194" y="239681"/>
            <a:ext cx="4257773" cy="7441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0082DB-E180-FAFB-32E5-D82299BFE0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79450" y="1214101"/>
            <a:ext cx="1099993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field of bioinformatics is revolutionizing how we understand and interpret genetic data.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Genome sequence alignment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foundational task 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Detecting genetic mutations and variations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Tracing evolutionary history across species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Supporting disease diagnosis and drug discovery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the rise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Next-Generation Sequencing (NGS)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researchers now deal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billions of DNA base pairs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traditional alignment methods insufficient.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need arises for algorithms that 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⚡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enough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handle large-scale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enough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subtle genetic variations (mutations, insertions, deletions)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project focuses on combining two alignment techniques: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SSAHA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fast, hashing-based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Smith-Waterman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accurate, dynamic programming-based method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integrating both, we aim to achieve a balance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 efficiency and biological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sequence alignment.</a:t>
            </a:r>
          </a:p>
        </p:txBody>
      </p:sp>
    </p:spTree>
    <p:extLst>
      <p:ext uri="{BB962C8B-B14F-4D97-AF65-F5344CB8AC3E}">
        <p14:creationId xmlns:p14="http://schemas.microsoft.com/office/powerpoint/2010/main" val="189566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A00E-7DA1-3C2E-EA86-1C46B4C0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265"/>
            <a:ext cx="6059557" cy="1325563"/>
          </a:xfrm>
        </p:spPr>
        <p:txBody>
          <a:bodyPr>
            <a:noAutofit/>
          </a:bodyPr>
          <a:lstStyle/>
          <a:p>
            <a:r>
              <a:rPr lang="en-US" sz="4800" b="1" dirty="0"/>
              <a:t>Problem Statement</a:t>
            </a:r>
            <a:endParaRPr lang="en-IN" sz="4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5E7C4F-31EF-5B24-FEFF-2752C03D00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323640"/>
            <a:ext cx="10889975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Genome sequence alignment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key step in analyzing biological data, used to detect similarities, mutations, and structural variations between DNA sequences.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Challenges: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Large-Scale Genomic Data: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sequencing technologies generate vast volumes of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Aligning query sequences against reference genomes quickly and accurately is computationally intensive.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Trade-off Between Speed and Accuracy: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algorithms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SSAHA) efficiently scan large datasets but are limited in detecting complex mutations.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algorithms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Smith-Waterman) detect insertions, deletions, and mismatches—but are too slow for large-scale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Core Problem: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can we achieve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yet highly accurate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sequence alignment suitable for large genomic datasets?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solution focuses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hybridizing SSAHA and Smith-Waterman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overcome these limitations.</a:t>
            </a:r>
          </a:p>
        </p:txBody>
      </p:sp>
    </p:spTree>
    <p:extLst>
      <p:ext uri="{BB962C8B-B14F-4D97-AF65-F5344CB8AC3E}">
        <p14:creationId xmlns:p14="http://schemas.microsoft.com/office/powerpoint/2010/main" val="217374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FA2D-2CB1-6EAF-FEB9-D3DCFC0C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12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Objective</a:t>
            </a:r>
            <a:endParaRPr lang="en-IN" sz="4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5C88B3-E1F6-6B58-70F6-FE2FB5ABB6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2122" y="1487517"/>
            <a:ext cx="1061167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Objective: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an efficient and accurate genome sequence alignment method by combining SSAHA and Smith-Waterman algorithms.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 Goals: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Utilize SSAHA to quickly identify potential matching regions within large reference genomes.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Smith-Waterman selectively on those regions to ensure high-accuracy local alignment.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the trade-off between computational speed and alignment precision.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 overall time and space complexity compared to using Smith-Waterman alone.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the hybrid approach through implementation, testing, and performance 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15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F90E-D4E1-D501-6453-A27C6849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CB022-CDDC-9B1F-52D7-9D27EDA47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0765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This project is based on two fundamental sequence alignment algorithms: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SSAHA (Sequence Search and Alignment by Hashing Algorithm):</a:t>
            </a:r>
            <a:br>
              <a:rPr lang="en-US" sz="2000" dirty="0"/>
            </a:br>
            <a:r>
              <a:rPr lang="en-US" sz="2000" dirty="0"/>
              <a:t>A fast, hashing-based algorithm designed to search large genomic databases. It identifies approximate matching regions using k-</a:t>
            </a:r>
            <a:r>
              <a:rPr lang="en-US" sz="2000" dirty="0" err="1"/>
              <a:t>mer</a:t>
            </a:r>
            <a:r>
              <a:rPr lang="en-US" sz="2000" dirty="0"/>
              <a:t> hashing.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Smith-Waterman Algorithm:</a:t>
            </a:r>
            <a:br>
              <a:rPr lang="en-US" sz="2000" dirty="0"/>
            </a:br>
            <a:r>
              <a:rPr lang="en-US" sz="2000" dirty="0"/>
              <a:t>A dynamic programming-based method that provides optimal local alignments. It is capable of detecting exact matches, mismatches, insertions, and deletions.</a:t>
            </a:r>
          </a:p>
          <a:p>
            <a:endParaRPr lang="en-I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2D6FD5-13ED-7653-769C-C9837B1DE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23278"/>
              </p:ext>
            </p:extLst>
          </p:nvPr>
        </p:nvGraphicFramePr>
        <p:xfrm>
          <a:off x="689113" y="4752562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246152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9755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92334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SSAHA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Smith-Waterman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603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Alignment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Approximate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Local, exact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421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Relatively 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099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Lower (not good for mutations)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Very high (handles gaps/mutations)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942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Suitable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Large databases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Small sequences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8492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1D059B7-2184-C169-9446-02A2B4BA6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113" y="42953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Summary: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817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2BFB-0B9A-6C94-DF34-2CC783818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687" y="0"/>
            <a:ext cx="10515600" cy="1173853"/>
          </a:xfrm>
        </p:spPr>
        <p:txBody>
          <a:bodyPr>
            <a:normAutofit/>
          </a:bodyPr>
          <a:lstStyle/>
          <a:p>
            <a:r>
              <a:rPr lang="en-IN" sz="4800" b="1" dirty="0"/>
              <a:t>SSAHA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0AA96-2182-AB22-7602-F9AE5E1CD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87" y="1043609"/>
            <a:ext cx="10939670" cy="5585791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SSAHA (Sequence Search and Alignment by Hashing Algorithm)</a:t>
            </a:r>
            <a:r>
              <a:rPr lang="en-US" sz="2200" dirty="0"/>
              <a:t> is a fast sequence alignment technique designed for searching large genomic databases.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Key Concept:</a:t>
            </a:r>
            <a:br>
              <a:rPr lang="en-US" sz="2200" b="1" dirty="0"/>
            </a:br>
            <a:br>
              <a:rPr lang="en-US" sz="1900" dirty="0"/>
            </a:br>
            <a:r>
              <a:rPr lang="en-US" sz="2200" dirty="0"/>
              <a:t>Uses a hash table of k-</a:t>
            </a:r>
            <a:r>
              <a:rPr lang="en-US" sz="2200" dirty="0" err="1"/>
              <a:t>mers</a:t>
            </a:r>
            <a:r>
              <a:rPr lang="en-US" sz="2200" dirty="0"/>
              <a:t> (short fixed-length subsequences) to quickly identify potential matching regions between a query and a reference </a:t>
            </a:r>
            <a:r>
              <a:rPr lang="en-US" sz="2600" dirty="0"/>
              <a:t>sequence</a:t>
            </a:r>
            <a:r>
              <a:rPr lang="en-US" sz="2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How SSAHA Works: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Break the reference genome into overlapping k-</a:t>
            </a:r>
            <a:r>
              <a:rPr lang="en-US" sz="2200" dirty="0" err="1"/>
              <a:t>mers</a:t>
            </a:r>
            <a:r>
              <a:rPr lang="en-US" sz="2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Store the k-</a:t>
            </a:r>
            <a:r>
              <a:rPr lang="en-US" sz="2200" dirty="0" err="1"/>
              <a:t>mer</a:t>
            </a:r>
            <a:r>
              <a:rPr lang="en-US" sz="2200" dirty="0"/>
              <a:t> positions in a hash 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For a given query, look up matching k-</a:t>
            </a:r>
            <a:r>
              <a:rPr lang="en-US" sz="2200" dirty="0" err="1"/>
              <a:t>mers</a:t>
            </a:r>
            <a:r>
              <a:rPr lang="en-US" sz="2200" dirty="0"/>
              <a:t> in the 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Identify candidate regions in the reference where matches occur</a:t>
            </a:r>
            <a:r>
              <a:rPr lang="en-US" sz="19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Advantages: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Very fast for large-scale sequence searching.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Effective for locating approximate matching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Limitations: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Not accurate for detecting mutations or small variations.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Poor handling of insertions and deletions.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6688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12FF-B5B5-06C0-6ED2-737CEEC9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b="1" dirty="0"/>
              <a:t>How SSAHA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B1CAE-33D6-4916-8E28-423C9675A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61" y="1203670"/>
            <a:ext cx="10992678" cy="528761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/>
              <a:t>SSAHA accelerates sequence alignment by transforming the matching process into a hash lookup problem.</a:t>
            </a:r>
          </a:p>
          <a:p>
            <a:pPr>
              <a:buNone/>
            </a:pPr>
            <a:r>
              <a:rPr lang="en-US" sz="1800" b="1" dirty="0"/>
              <a:t>Step-by-Step Workflow:</a:t>
            </a: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b="1" dirty="0"/>
              <a:t>K-</a:t>
            </a:r>
            <a:r>
              <a:rPr lang="en-US" sz="1800" b="1" dirty="0" err="1"/>
              <a:t>mer</a:t>
            </a:r>
            <a:r>
              <a:rPr lang="en-US" sz="1800" b="1" dirty="0"/>
              <a:t> Generation:</a:t>
            </a:r>
            <a:endParaRPr lang="en-US" sz="1800" dirty="0"/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The reference genome is divided into overlapping k-length subsequences called k-</a:t>
            </a:r>
            <a:r>
              <a:rPr lang="en-US" sz="1800" dirty="0" err="1"/>
              <a:t>mers</a:t>
            </a:r>
            <a:r>
              <a:rPr lang="en-US" sz="18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Hash Table Construction:</a:t>
            </a:r>
            <a:endParaRPr lang="en-US" sz="1800" dirty="0"/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Each k-</a:t>
            </a:r>
            <a:r>
              <a:rPr lang="en-US" sz="1800" dirty="0" err="1"/>
              <a:t>mer</a:t>
            </a:r>
            <a:r>
              <a:rPr lang="en-US" sz="1800" dirty="0"/>
              <a:t> is stored in a hash table along with its position in the reference sequence.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Query Processing:</a:t>
            </a:r>
            <a:endParaRPr lang="en-US" sz="1800" dirty="0"/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The query sequence is also broken into k-</a:t>
            </a:r>
            <a:r>
              <a:rPr lang="en-US" sz="1800" dirty="0" err="1"/>
              <a:t>mers</a:t>
            </a:r>
            <a:r>
              <a:rPr lang="en-US" sz="18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For each query k-</a:t>
            </a:r>
            <a:r>
              <a:rPr lang="en-US" sz="1800" dirty="0" err="1"/>
              <a:t>mer</a:t>
            </a:r>
            <a:r>
              <a:rPr lang="en-US" sz="1800" dirty="0"/>
              <a:t>, the algorithm searches the hash table to find matching positions in the reference.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Hit Clustering:</a:t>
            </a:r>
            <a:endParaRPr lang="en-US" sz="1800" dirty="0"/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Matching positions are grouped to identify continuous regions in the reference genome that align with the query.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Candidate Region Selection:</a:t>
            </a:r>
            <a:endParaRPr lang="en-US" sz="1800" dirty="0"/>
          </a:p>
          <a:p>
            <a:pPr marL="742950" lvl="1" indent="-285750">
              <a:buFont typeface="+mj-lt"/>
              <a:buAutoNum type="arabicPeriod"/>
            </a:pPr>
            <a:r>
              <a:rPr lang="en-US" sz="1800" dirty="0"/>
              <a:t>These clustered hits form candidate regions that are likely to contain true alignments.</a:t>
            </a:r>
          </a:p>
          <a:p>
            <a:r>
              <a:rPr lang="en-US" sz="1800" b="1" dirty="0"/>
              <a:t>Result:</a:t>
            </a:r>
            <a:br>
              <a:rPr lang="en-US" sz="1800" dirty="0"/>
            </a:br>
            <a:r>
              <a:rPr lang="en-US" sz="1800" dirty="0"/>
              <a:t>A set of high-probability matching regions in the reference genome, suitable for further detailed alignment.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8786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D155-A5CE-64EE-E146-11559D5EC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4" y="93592"/>
            <a:ext cx="6417365" cy="1009651"/>
          </a:xfrm>
        </p:spPr>
        <p:txBody>
          <a:bodyPr/>
          <a:lstStyle/>
          <a:p>
            <a:r>
              <a:rPr lang="en-US" b="1" dirty="0"/>
              <a:t>Pros and Cons of SSAHA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9A44-56D9-F57B-B2A8-F49155543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3243"/>
            <a:ext cx="10711070" cy="55011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High Speed:</a:t>
            </a:r>
            <a:br>
              <a:rPr lang="en-US" sz="1800" dirty="0"/>
            </a:br>
            <a:r>
              <a:rPr lang="en-US" sz="1800" dirty="0"/>
              <a:t>Efficient for scanning large genomic databases due to hash-based 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Scalability:</a:t>
            </a:r>
            <a:br>
              <a:rPr lang="en-US" sz="1800" dirty="0"/>
            </a:br>
            <a:r>
              <a:rPr lang="en-US" sz="1800" dirty="0"/>
              <a:t>Performs well with massive datasets from next-generation sequencing.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Simple Matching Logic:</a:t>
            </a:r>
            <a:br>
              <a:rPr lang="en-US" sz="1800" dirty="0"/>
            </a:br>
            <a:r>
              <a:rPr lang="en-US" sz="1800" dirty="0"/>
              <a:t>Uses exact k-</a:t>
            </a:r>
            <a:r>
              <a:rPr lang="en-US" sz="1800" dirty="0" err="1"/>
              <a:t>mer</a:t>
            </a:r>
            <a:r>
              <a:rPr lang="en-US" sz="1800" dirty="0"/>
              <a:t> matching, which is computationally inexpensive.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Good for Initial Filtering:</a:t>
            </a:r>
            <a:br>
              <a:rPr lang="en-US" sz="1800" dirty="0"/>
            </a:br>
            <a:r>
              <a:rPr lang="en-US" sz="1800" dirty="0"/>
              <a:t>Useful in identifying rough candidate regions for more detailed alignment.</a:t>
            </a:r>
          </a:p>
          <a:p>
            <a:pPr>
              <a:buNone/>
            </a:pPr>
            <a:r>
              <a:rPr lang="en-US" sz="2400" b="1" dirty="0"/>
              <a:t>Limitations: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Low Accuracy for Variations:</a:t>
            </a:r>
            <a:br>
              <a:rPr lang="en-US" sz="1800" dirty="0"/>
            </a:br>
            <a:r>
              <a:rPr lang="en-US" sz="1800" dirty="0"/>
              <a:t>Fails to detect small-scale variations like point mutations, insertions, or deletions.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Fixed K-</a:t>
            </a:r>
            <a:r>
              <a:rPr lang="en-US" sz="1800" b="1" dirty="0" err="1"/>
              <a:t>mer</a:t>
            </a:r>
            <a:r>
              <a:rPr lang="en-US" sz="1800" b="1" dirty="0"/>
              <a:t> Dependency:</a:t>
            </a:r>
            <a:br>
              <a:rPr lang="en-US" sz="1800" dirty="0"/>
            </a:br>
            <a:r>
              <a:rPr lang="en-US" sz="1800" dirty="0"/>
              <a:t>Choice of k-</a:t>
            </a:r>
            <a:r>
              <a:rPr lang="en-US" sz="1800" dirty="0" err="1"/>
              <a:t>mer</a:t>
            </a:r>
            <a:r>
              <a:rPr lang="en-US" sz="1800" dirty="0"/>
              <a:t> size significantly affects sensitivity and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Not Ideal for Final Alignment:</a:t>
            </a:r>
            <a:br>
              <a:rPr lang="en-US" sz="1800" dirty="0"/>
            </a:br>
            <a:r>
              <a:rPr lang="en-US" sz="1800" dirty="0"/>
              <a:t>Only provides approximate matching, not detailed local alignments.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33323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EFAE1-F999-CDDF-DF02-5DCF6E417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92"/>
            <a:ext cx="4499113" cy="1009651"/>
          </a:xfrm>
        </p:spPr>
        <p:txBody>
          <a:bodyPr/>
          <a:lstStyle/>
          <a:p>
            <a:r>
              <a:rPr lang="en-IN" b="1" dirty="0"/>
              <a:t>Smith-Waterman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457CA-598D-7F3B-DCC2-D150B955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242"/>
            <a:ext cx="10515600" cy="517725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Smith-Waterman algorithm</a:t>
            </a:r>
            <a:r>
              <a:rPr lang="en-US" sz="2000" dirty="0"/>
              <a:t> is a dynamic programming technique used for </a:t>
            </a:r>
            <a:r>
              <a:rPr lang="en-US" sz="2000" b="1" dirty="0"/>
              <a:t>local sequence alignment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Unlike global alignment methods, it focuses on finding the </a:t>
            </a:r>
            <a:r>
              <a:rPr lang="en-US" sz="1900" b="1" dirty="0"/>
              <a:t>most similar subsequence</a:t>
            </a:r>
            <a:r>
              <a:rPr lang="en-US" sz="1900" dirty="0"/>
              <a:t> between two DNA or protein sequences.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It accounts for </a:t>
            </a:r>
            <a:r>
              <a:rPr lang="en-US" sz="1900" b="1" dirty="0"/>
              <a:t>mismatches, insertions, and deletions</a:t>
            </a:r>
            <a:r>
              <a:rPr lang="en-US" sz="1900" dirty="0"/>
              <a:t>, making it highly accurate in detecting biologically meaningful similarities.</a:t>
            </a:r>
          </a:p>
          <a:p>
            <a:pPr>
              <a:buNone/>
            </a:pPr>
            <a:r>
              <a:rPr lang="en-US" sz="1900" b="1" dirty="0"/>
              <a:t>Core Principles: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Builds a </a:t>
            </a:r>
            <a:r>
              <a:rPr lang="en-US" sz="1900" b="1" dirty="0"/>
              <a:t>scoring matrix</a:t>
            </a:r>
            <a:r>
              <a:rPr lang="en-US" sz="1900" dirty="0"/>
              <a:t> using predefined match, mismatch, and gap penalty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Determines the </a:t>
            </a:r>
            <a:r>
              <a:rPr lang="en-US" sz="1900" b="1" dirty="0"/>
              <a:t>highest scoring local alignment</a:t>
            </a:r>
            <a:r>
              <a:rPr lang="en-US" sz="1900" dirty="0"/>
              <a:t> through traceback.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Produces the </a:t>
            </a:r>
            <a:r>
              <a:rPr lang="en-US" sz="1900" b="1" dirty="0"/>
              <a:t>optimal alignment</a:t>
            </a:r>
            <a:r>
              <a:rPr lang="en-US" sz="1900" dirty="0"/>
              <a:t> between segments of the two sequences.</a:t>
            </a:r>
          </a:p>
          <a:p>
            <a:pPr>
              <a:buNone/>
            </a:pPr>
            <a:r>
              <a:rPr lang="en-US" sz="1900" b="1" dirty="0"/>
              <a:t>Applications: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Identifying conserved regions across genomes.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Detecting local similarities between genes or proteins.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Comparing short DNA or protein sequences with high precision.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57270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B28C-49E2-B4FA-3B52-5D7D92D19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173"/>
            <a:ext cx="6993835" cy="905497"/>
          </a:xfrm>
        </p:spPr>
        <p:txBody>
          <a:bodyPr/>
          <a:lstStyle/>
          <a:p>
            <a:r>
              <a:rPr lang="en-IN" b="1" dirty="0"/>
              <a:t>How Smith-Waterman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7E5D8-08B3-D7E1-2303-E5A79AB74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2148"/>
            <a:ext cx="11019183" cy="527767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/>
              <a:t>The Smith-Waterman algorithm follows a dynamic programming approach for local alignment:</a:t>
            </a:r>
          </a:p>
          <a:p>
            <a:pPr>
              <a:buNone/>
            </a:pPr>
            <a:r>
              <a:rPr lang="en-US" sz="2000" b="1" dirty="0"/>
              <a:t>Step-by-Step Process: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b="1" dirty="0"/>
              <a:t>Initialization: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 scoring matrix is created with dimensions based on the lengths of the two sequences.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The first row and first column are initialized to zero (local alignment starts anywhere).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Matrix Filling: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Each cell is computed using the following recurrence relation:</a:t>
            </a:r>
            <a:br>
              <a:rPr lang="en-US" sz="2000" dirty="0"/>
            </a:br>
            <a:r>
              <a:rPr lang="en-US" sz="2000" dirty="0"/>
              <a:t>Score(</a:t>
            </a:r>
            <a:r>
              <a:rPr lang="en-US" sz="2000" dirty="0" err="1"/>
              <a:t>i,j</a:t>
            </a:r>
            <a:r>
              <a:rPr lang="en-US" sz="2000" dirty="0"/>
              <a:t>) = max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0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Score(i-1, j-1) + match/mismatch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Score(i-1, j) + gap penalty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Score(</a:t>
            </a:r>
            <a:r>
              <a:rPr lang="en-US" dirty="0" err="1"/>
              <a:t>i</a:t>
            </a:r>
            <a:r>
              <a:rPr lang="en-US" dirty="0"/>
              <a:t>, j-1) + gap penalty</a:t>
            </a:r>
          </a:p>
          <a:p>
            <a:pPr marL="457200" lvl="1" indent="0">
              <a:buNone/>
            </a:pPr>
            <a:r>
              <a:rPr lang="en-US" sz="2000" dirty="0"/>
              <a:t>This ensures negative scores are reset to zero, focusing only on high-similarity regions.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38313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D0DFA-3264-6ECC-0661-874B6E482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9876"/>
            <a:ext cx="4582212" cy="5517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3.Traceback: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Begins from the highest-scoring cell.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Moves backward to reconstruct the optimal local alignment path until a zero is encountered.</a:t>
            </a:r>
          </a:p>
          <a:p>
            <a:pPr>
              <a:buNone/>
            </a:pPr>
            <a:r>
              <a:rPr lang="en-US" sz="2000" b="1" dirty="0"/>
              <a:t>Scoring Example: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Match = +2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Mismatch = -1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Gap penalty = -2</a:t>
            </a:r>
          </a:p>
          <a:p>
            <a:pPr>
              <a:buNone/>
            </a:pPr>
            <a:r>
              <a:rPr lang="en-US" sz="2000" b="1" dirty="0"/>
              <a:t>Outcome: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algorithm returns the best local alignment, highlighting the region of highest similarity between the two sequences.</a:t>
            </a:r>
          </a:p>
          <a:p>
            <a:endParaRPr lang="en-IN" sz="2000" dirty="0"/>
          </a:p>
        </p:txBody>
      </p:sp>
      <p:pic>
        <p:nvPicPr>
          <p:cNvPr id="1026" name="Picture 2" descr="Smith–Waterman algorithm - Wikipedia">
            <a:extLst>
              <a:ext uri="{FF2B5EF4-FFF2-40B4-BE49-F238E27FC236}">
                <a16:creationId xmlns:a16="http://schemas.microsoft.com/office/drawing/2014/main" id="{4DB373B5-8EDE-2BBB-E4F8-E2DAD24E1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655" y="732884"/>
            <a:ext cx="5326145" cy="518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650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3AD2B-1681-34F7-6EFC-EB2C1EC50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106"/>
            <a:ext cx="8146774" cy="845862"/>
          </a:xfrm>
        </p:spPr>
        <p:txBody>
          <a:bodyPr/>
          <a:lstStyle/>
          <a:p>
            <a:r>
              <a:rPr lang="en-US" b="1" dirty="0"/>
              <a:t>Pros and Cons of Smith-Waterman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4C2B3-377D-1733-BD7E-DB87EEC3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3968"/>
            <a:ext cx="10740887" cy="549592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900" b="1" dirty="0"/>
              <a:t>Advantages: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High Accuracy:</a:t>
            </a:r>
            <a:br>
              <a:rPr lang="en-US" sz="1900" dirty="0"/>
            </a:br>
            <a:r>
              <a:rPr lang="en-US" sz="1900" dirty="0"/>
              <a:t>Accurately detects matches, mismatches, insertions, and deletions.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Local Alignment:</a:t>
            </a:r>
            <a:br>
              <a:rPr lang="en-US" sz="1900" dirty="0"/>
            </a:br>
            <a:r>
              <a:rPr lang="en-US" sz="1900" dirty="0"/>
              <a:t>Identifies the most similar subsequence, useful when sequences differ in length or contain unrelated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Handles Variations:</a:t>
            </a:r>
            <a:br>
              <a:rPr lang="en-US" sz="1900" dirty="0"/>
            </a:br>
            <a:r>
              <a:rPr lang="en-US" sz="1900" dirty="0"/>
              <a:t>Effectively aligns sequences with mutations or structural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Biological Relevance:</a:t>
            </a:r>
            <a:br>
              <a:rPr lang="en-US" sz="1900" dirty="0"/>
            </a:br>
            <a:r>
              <a:rPr lang="en-US" sz="1900" dirty="0"/>
              <a:t>Produces biologically meaningful alignments that can detect functional similarity.</a:t>
            </a:r>
          </a:p>
          <a:p>
            <a:pPr>
              <a:buNone/>
            </a:pPr>
            <a:r>
              <a:rPr lang="en-US" sz="1900" b="1" dirty="0"/>
              <a:t>Limitations: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Computationally Intensive:</a:t>
            </a:r>
            <a:br>
              <a:rPr lang="en-US" sz="1900" dirty="0"/>
            </a:br>
            <a:r>
              <a:rPr lang="en-US" sz="1900" dirty="0"/>
              <a:t>Time complexity is O(m × n), making it slow for long sequences or large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Not Scalable:</a:t>
            </a:r>
            <a:br>
              <a:rPr lang="en-US" sz="1900" dirty="0"/>
            </a:br>
            <a:r>
              <a:rPr lang="en-US" sz="1900" dirty="0"/>
              <a:t>Inefficient for searching in massive genomic databases.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High Memory Usage:</a:t>
            </a:r>
            <a:br>
              <a:rPr lang="en-US" sz="1900" dirty="0"/>
            </a:br>
            <a:r>
              <a:rPr lang="en-US" sz="1900" dirty="0"/>
              <a:t>Requires significant memory for storing the scoring matrix.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Not Ideal for Initial Filtering:</a:t>
            </a:r>
            <a:br>
              <a:rPr lang="en-US" sz="1900" dirty="0"/>
            </a:br>
            <a:r>
              <a:rPr lang="en-US" sz="1900" dirty="0"/>
              <a:t>Too slow to be used alone for scanning large-scale genomic data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2231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CCEF-5A7D-C013-197C-58CBA020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1" y="74750"/>
            <a:ext cx="10515600" cy="1009651"/>
          </a:xfrm>
        </p:spPr>
        <p:txBody>
          <a:bodyPr/>
          <a:lstStyle/>
          <a:p>
            <a:r>
              <a:rPr lang="en-IN" b="1" dirty="0"/>
              <a:t>Why Combine SSAHA &amp; Smith-Waterman?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BD6DD2-13B6-7A83-3839-E0AC3A5B0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8931" y="1376789"/>
            <a:ext cx="10882745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Smith-Waterman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delivers highly accurate local alignments that handle mutations, insertions, and deletions, but it is computationally expensive and slow.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with using them individually: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SSAHA cannot reliably detect biologically meaningful variations.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Smith-Waterman is impractical for large-scale genome searches due to its time complexity.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Combined Approach: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SSAHA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quickly identify candidate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reference genome.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Smith-Waterman only to those regions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alignment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Benefits of Combination: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computation time by limiting the scope of Smith-Waterman.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 alignment accuracy compared to SSAHA alone.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SSAHA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offers high-speed matching by scanning large genomic databases using hash-based indexing, but it lacks precision in identifying sequence variations.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Efficiently balances speed and precision.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376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88A9A-F71A-8DA6-A390-4E02B726D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69"/>
            <a:ext cx="4856922" cy="1004888"/>
          </a:xfrm>
        </p:spPr>
        <p:txBody>
          <a:bodyPr/>
          <a:lstStyle/>
          <a:p>
            <a:r>
              <a:rPr lang="en-IN" b="1" dirty="0"/>
              <a:t>Hybrid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50328-A7A5-297A-B292-249B8E6B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4217"/>
            <a:ext cx="10750826" cy="537707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900" dirty="0"/>
              <a:t>To leverage the strengths of both algorithms, we implemented a hybrid strategy combining SSAHA and Smith-Waterman:</a:t>
            </a:r>
          </a:p>
          <a:p>
            <a:pPr>
              <a:buNone/>
            </a:pPr>
            <a:r>
              <a:rPr lang="en-US" sz="1900" b="1" dirty="0"/>
              <a:t>Workflow:</a:t>
            </a:r>
            <a:endParaRPr lang="en-US" sz="1900" dirty="0"/>
          </a:p>
          <a:p>
            <a:pPr>
              <a:buFont typeface="+mj-lt"/>
              <a:buAutoNum type="arabicPeriod"/>
            </a:pPr>
            <a:r>
              <a:rPr lang="en-US" sz="1900" b="1" dirty="0"/>
              <a:t>Candidate Region Identification (SSAHA):</a:t>
            </a:r>
            <a:endParaRPr lang="en-US" sz="1900" dirty="0"/>
          </a:p>
          <a:p>
            <a:pPr marL="742950" lvl="1" indent="-285750">
              <a:buFont typeface="+mj-lt"/>
              <a:buAutoNum type="arabicPeriod"/>
            </a:pPr>
            <a:r>
              <a:rPr lang="en-US" sz="1900" dirty="0"/>
              <a:t>The reference genome is indexed using k-</a:t>
            </a:r>
            <a:r>
              <a:rPr lang="en-US" sz="1900" dirty="0" err="1"/>
              <a:t>mers</a:t>
            </a:r>
            <a:r>
              <a:rPr lang="en-US" sz="19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900" dirty="0"/>
              <a:t>Query k-</a:t>
            </a:r>
            <a:r>
              <a:rPr lang="en-US" sz="1900" dirty="0" err="1"/>
              <a:t>mers</a:t>
            </a:r>
            <a:r>
              <a:rPr lang="en-US" sz="1900" dirty="0"/>
              <a:t> are matched against the index to locate high-probability regions.</a:t>
            </a:r>
          </a:p>
          <a:p>
            <a:pPr>
              <a:buFont typeface="+mj-lt"/>
              <a:buAutoNum type="arabicPeriod"/>
            </a:pPr>
            <a:r>
              <a:rPr lang="en-US" sz="1900" b="1" dirty="0"/>
              <a:t>Refined Alignment (Smith-Waterman):</a:t>
            </a:r>
            <a:endParaRPr lang="en-US" sz="1900" dirty="0"/>
          </a:p>
          <a:p>
            <a:pPr marL="742950" lvl="1" indent="-285750">
              <a:buFont typeface="+mj-lt"/>
              <a:buAutoNum type="arabicPeriod"/>
            </a:pPr>
            <a:r>
              <a:rPr lang="en-US" sz="1900" dirty="0"/>
              <a:t>Smith-Waterman is applied only to the candidate regions identified by SSAHA.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900" dirty="0"/>
              <a:t>This ensures high-accuracy local alignment while reducing the number of comparisons.</a:t>
            </a:r>
          </a:p>
          <a:p>
            <a:pPr>
              <a:buFont typeface="+mj-lt"/>
              <a:buAutoNum type="arabicPeriod"/>
            </a:pPr>
            <a:r>
              <a:rPr lang="en-US" sz="1900" b="1" dirty="0"/>
              <a:t>Final Output:</a:t>
            </a:r>
            <a:endParaRPr lang="en-US" sz="1900" dirty="0"/>
          </a:p>
          <a:p>
            <a:pPr marL="742950" lvl="1" indent="-285750">
              <a:buFont typeface="+mj-lt"/>
              <a:buAutoNum type="arabicPeriod"/>
            </a:pPr>
            <a:r>
              <a:rPr lang="en-US" sz="1900" dirty="0"/>
              <a:t>The result is a set of accurate alignments that were found significantly faster than applying Smith-Waterman to the entire genome.</a:t>
            </a:r>
          </a:p>
          <a:p>
            <a:pPr>
              <a:buNone/>
            </a:pPr>
            <a:r>
              <a:rPr lang="en-US" sz="1900" b="1" dirty="0"/>
              <a:t>Advantages of the Hybrid Model:</a:t>
            </a:r>
            <a:endParaRPr lang="en-US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Reduces time complexity from O(m × n) to approximately O(m × k), where k is the number of candidate positions.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Maintains high accuracy with lower computational cost.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Scales well for large datasets.</a:t>
            </a: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493104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9AC0B-1817-D2EE-9186-9837FB7C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342"/>
            <a:ext cx="3833191" cy="887205"/>
          </a:xfrm>
        </p:spPr>
        <p:txBody>
          <a:bodyPr/>
          <a:lstStyle/>
          <a:p>
            <a:r>
              <a:rPr lang="en-IN" b="1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89C7B-5B9B-353B-7FA6-D37531B1E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53546"/>
            <a:ext cx="10989365" cy="5555975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/>
              <a:t>Our implementation involves two main modules integrated in a Python-based environment:</a:t>
            </a:r>
          </a:p>
          <a:p>
            <a:pPr>
              <a:buNone/>
            </a:pPr>
            <a:r>
              <a:rPr lang="en-US" b="1" dirty="0"/>
              <a:t>1. SSAHA Module: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Reads the reference genome and breaks it into overlapping k-</a:t>
            </a:r>
            <a:r>
              <a:rPr lang="en-US" dirty="0" err="1"/>
              <a:t>mers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Constructs a hash table mapping each k-</a:t>
            </a:r>
            <a:r>
              <a:rPr lang="en-US" dirty="0" err="1"/>
              <a:t>mer</a:t>
            </a:r>
            <a:r>
              <a:rPr lang="en-US" dirty="0"/>
              <a:t> to its positions in the reference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Scans the query sequence, identifies matching k-</a:t>
            </a:r>
            <a:r>
              <a:rPr lang="en-US" dirty="0" err="1"/>
              <a:t>mers</a:t>
            </a:r>
            <a:r>
              <a:rPr lang="en-US" dirty="0"/>
              <a:t>, and clusters them to locate candidate regions.</a:t>
            </a:r>
          </a:p>
          <a:p>
            <a:pPr>
              <a:buNone/>
            </a:pPr>
            <a:r>
              <a:rPr lang="en-US" b="1" dirty="0"/>
              <a:t>2. Smith-Waterman Module: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Accepts the candidate regions from the SSAHA module.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Builds a scoring matrix for each region using dynamic programming.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Performs traceback to obtain the optimal local alignment for each region.</a:t>
            </a:r>
          </a:p>
          <a:p>
            <a:pPr>
              <a:buNone/>
            </a:pPr>
            <a:r>
              <a:rPr lang="en-US" b="1" dirty="0"/>
              <a:t>Key 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Modular design for easy extension and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Configurable parameters such as k-</a:t>
            </a:r>
            <a:r>
              <a:rPr lang="en-US" dirty="0" err="1"/>
              <a:t>mer</a:t>
            </a:r>
            <a:r>
              <a:rPr lang="en-US" dirty="0"/>
              <a:t> size, match score, mismatch penalty, and gap penalty.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memory handling to support larger sequences.</a:t>
            </a:r>
          </a:p>
          <a:p>
            <a:pPr>
              <a:buNone/>
            </a:pPr>
            <a:r>
              <a:rPr lang="en-US" b="1" dirty="0"/>
              <a:t>Development Environment: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Language: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Libraries: NumPy, </a:t>
            </a:r>
            <a:r>
              <a:rPr lang="en-US" dirty="0" err="1"/>
              <a:t>Biopython</a:t>
            </a:r>
            <a:r>
              <a:rPr lang="en-US" dirty="0"/>
              <a:t> (for sequence handling and scoring)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Tested on: Real and synthetic DNA sequences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663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C5AEE-0DDC-4509-EBBE-710EAF8DF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5257800" cy="1325563"/>
          </a:xfrm>
        </p:spPr>
        <p:txBody>
          <a:bodyPr/>
          <a:lstStyle/>
          <a:p>
            <a:r>
              <a:rPr lang="en-IN" b="1" dirty="0"/>
              <a:t>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E87C5-6D54-F50D-BAA3-A7384A76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574"/>
            <a:ext cx="10515600" cy="533731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/>
              <a:t>We evaluated the performance of three methods: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SSAHA alone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Smith-Waterman alone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Our Hybrid Approach</a:t>
            </a:r>
          </a:p>
          <a:p>
            <a:pPr>
              <a:buNone/>
            </a:pPr>
            <a:r>
              <a:rPr lang="en-US" sz="1800" b="1" dirty="0"/>
              <a:t>Time Complexity: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Smith-Waterman:</a:t>
            </a:r>
            <a:br>
              <a:rPr lang="en-US" sz="1800" dirty="0"/>
            </a:br>
            <a:r>
              <a:rPr lang="en-US" sz="1800" dirty="0"/>
              <a:t>O(m × n), where</a:t>
            </a:r>
            <a:br>
              <a:rPr lang="en-US" sz="1800" dirty="0"/>
            </a:br>
            <a:r>
              <a:rPr lang="en-US" sz="1800" dirty="0"/>
              <a:t>m = length of query</a:t>
            </a:r>
            <a:br>
              <a:rPr lang="en-US" sz="1800" dirty="0"/>
            </a:br>
            <a:r>
              <a:rPr lang="en-US" sz="1800" dirty="0"/>
              <a:t>n = length of reference</a:t>
            </a:r>
            <a:br>
              <a:rPr lang="en-US" sz="1800" dirty="0"/>
            </a:br>
            <a:r>
              <a:rPr lang="en-US" sz="1800" dirty="0"/>
              <a:t>(Slow for large datasets)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Hybrid (SSAHA + Smith-Waterman):</a:t>
            </a:r>
            <a:br>
              <a:rPr lang="en-US" sz="1800" dirty="0"/>
            </a:br>
            <a:r>
              <a:rPr lang="en-US" sz="1800" dirty="0"/>
              <a:t>O(m × k), where</a:t>
            </a:r>
            <a:br>
              <a:rPr lang="en-US" sz="1800" dirty="0"/>
            </a:br>
            <a:r>
              <a:rPr lang="en-US" sz="1800" dirty="0"/>
              <a:t>k = number of candidate positions from SSAHA</a:t>
            </a:r>
            <a:br>
              <a:rPr lang="en-US" sz="1800" dirty="0"/>
            </a:br>
            <a:r>
              <a:rPr lang="en-US" sz="1800" dirty="0"/>
              <a:t>(k ≪ n, making it significantly faster)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The hybrid approach maintains high alignment accuracy while greatly improving runtime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62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D6F1-8AA6-6F18-6358-E2275488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043" y="73232"/>
            <a:ext cx="3892826" cy="887205"/>
          </a:xfrm>
        </p:spPr>
        <p:txBody>
          <a:bodyPr/>
          <a:lstStyle/>
          <a:p>
            <a:r>
              <a:rPr lang="en-US" b="1" dirty="0"/>
              <a:t>Result Metrics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A67AE-2923-476D-6EA7-289ED1BBD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043" y="1055801"/>
            <a:ext cx="11201399" cy="537481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/>
              <a:t>To evaluate the effectiveness of our hybrid alignment method, we used the following performance metrics:</a:t>
            </a:r>
          </a:p>
          <a:p>
            <a:pPr>
              <a:buNone/>
            </a:pPr>
            <a:r>
              <a:rPr lang="en-US" sz="1800" b="1" dirty="0"/>
              <a:t>1. Alignment Score: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Measures the quality of sequence alignment based on matches, mismatches, and gap penalties.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Higher scores indicate better alignment accuracy.</a:t>
            </a:r>
          </a:p>
          <a:p>
            <a:pPr>
              <a:buNone/>
            </a:pPr>
            <a:r>
              <a:rPr lang="en-US" sz="1800" b="1" dirty="0"/>
              <a:t>Scoring Scheme Used: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Match: +2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Mismatch: -1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Gap penalty: -2</a:t>
            </a:r>
          </a:p>
          <a:p>
            <a:pPr>
              <a:buNone/>
            </a:pPr>
            <a:r>
              <a:rPr lang="en-US" sz="1800" b="1" dirty="0"/>
              <a:t>Interpretation: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Example:</a:t>
            </a:r>
            <a:r>
              <a:rPr lang="en-US" sz="1800" dirty="0"/>
              <a:t> An alignment score of 20 for a 10-base query implies a perfect match with no mismatches or gaps.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alignment score provides a </a:t>
            </a:r>
            <a:r>
              <a:rPr lang="en-US" sz="1800" b="1" dirty="0"/>
              <a:t>quantitative measure</a:t>
            </a:r>
            <a:r>
              <a:rPr lang="en-US" sz="1800" dirty="0"/>
              <a:t> of alignment quality, which is crucial in identifying biologically relevant regions.</a:t>
            </a:r>
          </a:p>
          <a:p>
            <a:pPr>
              <a:buNone/>
            </a:pPr>
            <a:r>
              <a:rPr lang="en-US" sz="1800" b="1" dirty="0"/>
              <a:t>Conclusion: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Alignment scores from our hybrid model closely matched those produced by Smith-Waterman alone, confirming that accuracy was preserved while improving efficiency.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45766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96A6B-565F-C8F6-E3CA-E41F60992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95" y="106709"/>
            <a:ext cx="10515600" cy="857388"/>
          </a:xfrm>
        </p:spPr>
        <p:txBody>
          <a:bodyPr/>
          <a:lstStyle/>
          <a:p>
            <a:r>
              <a:rPr lang="en-IN" b="1" dirty="0"/>
              <a:t>Real-World 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CEAC5-9ACB-2063-D2DF-D8D917ECB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95" y="1093304"/>
            <a:ext cx="10939670" cy="5327374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The ability to align genome sequences efficiently and accurately has wide-ranging applications across multiple domains in life sciences and medicine.</a:t>
            </a:r>
          </a:p>
          <a:p>
            <a:pPr>
              <a:buNone/>
            </a:pPr>
            <a:r>
              <a:rPr lang="en-US" b="1" dirty="0"/>
              <a:t>Applications of Genome Sequence Alignment: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Genetic Disease Detection: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Identifies mutations and variations responsible for inherited diseases.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Comparative Genomics: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Finds conserved regions among species to study evolutionary relationships.</a:t>
            </a:r>
          </a:p>
          <a:p>
            <a:pPr>
              <a:buFont typeface="+mj-lt"/>
              <a:buAutoNum type="arabicPeriod"/>
            </a:pPr>
            <a:r>
              <a:rPr lang="en-US" dirty="0"/>
              <a:t>Personalized Medicine: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Enables tailored drug therapies based on an individual’s genetic makeup.</a:t>
            </a:r>
          </a:p>
          <a:p>
            <a:pPr>
              <a:buFont typeface="+mj-lt"/>
              <a:buAutoNum type="arabicPeriod"/>
            </a:pPr>
            <a:r>
              <a:rPr lang="en-US" dirty="0"/>
              <a:t>Pathogen Identification: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Helps detect and track viruses and bacteria based on their genetic material.</a:t>
            </a:r>
          </a:p>
          <a:p>
            <a:pPr>
              <a:buFont typeface="+mj-lt"/>
              <a:buAutoNum type="arabicPeriod"/>
            </a:pPr>
            <a:r>
              <a:rPr lang="en-US" dirty="0"/>
              <a:t>Gene Annotation and Discovery: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Assists in locating genes within uncharacterized genomic regions.</a:t>
            </a:r>
          </a:p>
          <a:p>
            <a:pPr>
              <a:buNone/>
            </a:pPr>
            <a:r>
              <a:rPr lang="en-US" b="1" dirty="0"/>
              <a:t>Relevance of Our Hybrid Model: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Ideal for research labs working with large-scale DNA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turnaround time for genomic analysis in clinical settings.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Balances computational resource constraints with analytical precision.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57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37F2-BB4B-3896-078A-821EF21BF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0" y="159026"/>
            <a:ext cx="10515600" cy="825984"/>
          </a:xfrm>
        </p:spPr>
        <p:txBody>
          <a:bodyPr/>
          <a:lstStyle/>
          <a:p>
            <a:r>
              <a:rPr lang="en-IN" b="1" dirty="0"/>
              <a:t>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3DCAD-12A1-BDDD-1805-101578A3A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870" y="1063487"/>
            <a:ext cx="10624930" cy="543670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000" dirty="0"/>
              <a:t>While developing the hybrid alignment model, we encountered several technical and practical challenges:</a:t>
            </a:r>
          </a:p>
          <a:p>
            <a:pPr>
              <a:buNone/>
            </a:pPr>
            <a:r>
              <a:rPr lang="en-US" sz="2000" b="1" dirty="0"/>
              <a:t>1. Memory Usage in SSAHA: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Storing hash tables for large genomic sequences required significant memory.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Optimization was needed to manage k-</a:t>
            </a:r>
            <a:r>
              <a:rPr lang="en-US" sz="2000" dirty="0" err="1"/>
              <a:t>mer</a:t>
            </a:r>
            <a:r>
              <a:rPr lang="en-US" sz="2000" dirty="0"/>
              <a:t> storage efficiently.</a:t>
            </a:r>
          </a:p>
          <a:p>
            <a:pPr>
              <a:buNone/>
            </a:pPr>
            <a:r>
              <a:rPr lang="en-US" sz="2000" b="1" dirty="0"/>
              <a:t>2. Parameter Tuning: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Selecting the optimal k-</a:t>
            </a:r>
            <a:r>
              <a:rPr lang="en-US" sz="2000" dirty="0" err="1"/>
              <a:t>mer</a:t>
            </a:r>
            <a:r>
              <a:rPr lang="en-US" sz="2000" dirty="0"/>
              <a:t> length was crucial for SSAHA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Too short increased false positives; too long missed valid matches.</a:t>
            </a:r>
          </a:p>
          <a:p>
            <a:pPr>
              <a:buNone/>
            </a:pPr>
            <a:r>
              <a:rPr lang="en-US" sz="2000" b="1" dirty="0"/>
              <a:t>3. Handling Edge Cases: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Some sequences required full Smith-Waterman alignment due to poor k-</a:t>
            </a:r>
            <a:r>
              <a:rPr lang="en-US" sz="2000" dirty="0" err="1"/>
              <a:t>mer</a:t>
            </a:r>
            <a:r>
              <a:rPr lang="en-US" sz="2000" dirty="0"/>
              <a:t> matches.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Additional logic was implemented to handle such cases selectively.</a:t>
            </a:r>
          </a:p>
          <a:p>
            <a:pPr>
              <a:buNone/>
            </a:pPr>
            <a:r>
              <a:rPr lang="en-US" sz="2000" b="1" dirty="0"/>
              <a:t>4. Integration Complexity: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Seamless integration of the fast SSAHA module with the slower Smith-Waterman logic needed careful control of data flow.</a:t>
            </a:r>
          </a:p>
          <a:p>
            <a:pPr>
              <a:buNone/>
            </a:pPr>
            <a:r>
              <a:rPr lang="en-US" sz="2000" b="1" dirty="0"/>
              <a:t>5. Testing on Real Data: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Real genome datasets introduced noise and complexity not present in synthetic samples.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Required multiple test cases to ensure robustness.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88581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5305C-BA6E-ECEA-D929-26E4C6C3F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48"/>
            <a:ext cx="4111487" cy="845862"/>
          </a:xfrm>
        </p:spPr>
        <p:txBody>
          <a:bodyPr/>
          <a:lstStyle/>
          <a:p>
            <a:r>
              <a:rPr lang="en-IN" b="1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F5638-8487-AA49-8B40-1BAE7CFE3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010"/>
            <a:ext cx="10711070" cy="553506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dirty="0"/>
              <a:t>To further enhance the performance and applicability of our hybrid alignment system, the following improvements are proposed:</a:t>
            </a:r>
          </a:p>
          <a:p>
            <a:pPr>
              <a:buNone/>
            </a:pPr>
            <a:r>
              <a:rPr lang="en-US" sz="1800" b="1" dirty="0"/>
              <a:t>1. Adaptive K-</a:t>
            </a:r>
            <a:r>
              <a:rPr lang="en-US" sz="1800" b="1" dirty="0" err="1"/>
              <a:t>mer</a:t>
            </a:r>
            <a:r>
              <a:rPr lang="en-US" sz="1800" b="1" dirty="0"/>
              <a:t> Selection: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Dynamically adjust k-</a:t>
            </a:r>
            <a:r>
              <a:rPr lang="en-US" sz="1800" dirty="0" err="1"/>
              <a:t>mer</a:t>
            </a:r>
            <a:r>
              <a:rPr lang="en-US" sz="1800" dirty="0"/>
              <a:t> size based on the complexity and variability of the query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Helps in optimizing sensitivity and specificity.</a:t>
            </a:r>
          </a:p>
          <a:p>
            <a:pPr>
              <a:buNone/>
            </a:pPr>
            <a:r>
              <a:rPr lang="en-US" sz="1800" b="1" dirty="0"/>
              <a:t>2. Parallel Computing Implementation: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Leverage multicore CPUs or GPUs to parallelize SSAHA indexing and Smith-Waterman alignment.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Significantly reduce execution time for very large datasets.</a:t>
            </a:r>
          </a:p>
          <a:p>
            <a:pPr>
              <a:buNone/>
            </a:pPr>
            <a:r>
              <a:rPr lang="en-US" sz="1800" b="1" dirty="0"/>
              <a:t>3. Cloud-Based Genome Alignment Tools: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Deploy the system as a cloud service to handle big data in real-time.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Enables remote access and large-scale collaboration.</a:t>
            </a:r>
          </a:p>
          <a:p>
            <a:pPr>
              <a:buNone/>
            </a:pPr>
            <a:r>
              <a:rPr lang="en-US" sz="1800" b="1" dirty="0"/>
              <a:t>4. Integration with Annotation Tools: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Combine alignment results with gene annotation systems to directly interpret biological meaning.</a:t>
            </a:r>
          </a:p>
          <a:p>
            <a:pPr>
              <a:buNone/>
            </a:pPr>
            <a:r>
              <a:rPr lang="en-US" sz="1800" b="1" dirty="0"/>
              <a:t>5. Enhanced Mutation Detection Logic: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Develop specialized modules to handle complex structural variations and rare mutation patterns more accurately.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44076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64F5-D88C-C466-93A3-49E8BEA00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28"/>
            <a:ext cx="3038061" cy="885618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2D7C0-43EC-4C12-C68C-2897F7199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3609"/>
            <a:ext cx="10515600" cy="54864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This project addressed a key challenge in bioinformatics: performing accurate genome sequence alignment at scale.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We proposed and implemented a hybrid algorithm that 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The </a:t>
            </a:r>
            <a:r>
              <a:rPr lang="en-US" sz="1900" b="1" dirty="0"/>
              <a:t>speed and scalability</a:t>
            </a:r>
            <a:r>
              <a:rPr lang="en-US" sz="1900" dirty="0"/>
              <a:t> of SSAHA for initial region identification.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The </a:t>
            </a:r>
            <a:r>
              <a:rPr lang="en-US" sz="1900" b="1" dirty="0"/>
              <a:t>accuracy and precision</a:t>
            </a:r>
            <a:r>
              <a:rPr lang="en-US" sz="1900" dirty="0"/>
              <a:t> of Smith-Waterman for local alignment refinement.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Significant Outcomes:</a:t>
            </a:r>
            <a:endParaRPr lang="en-US" sz="1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Reduced time complexity from O(m × n) to O(m × k), making alignment feasible on large datasets.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Preserved alignment accuracy comparable to Smith-Waterman alone.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Achieved a flexible, modular implementation suitable for further extension and real-world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Broader Implications:</a:t>
            </a:r>
            <a:endParaRPr lang="en-US" sz="1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The hybrid model can enhance workflows in clinical genomics, disease research, and comparative genomics.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dirty="0"/>
              <a:t>It supports the growing demand for fast, high-throughput analysis in modern genetic research.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In conclusion, our approach successfully bridges the gap between </a:t>
            </a:r>
            <a:r>
              <a:rPr lang="en-US" sz="1900" b="1" dirty="0"/>
              <a:t>computational efficiency</a:t>
            </a:r>
            <a:r>
              <a:rPr lang="en-US" sz="1900" dirty="0"/>
              <a:t> and </a:t>
            </a:r>
            <a:r>
              <a:rPr lang="en-US" sz="1900" b="1" dirty="0"/>
              <a:t>biological accuracy</a:t>
            </a:r>
            <a:r>
              <a:rPr lang="en-US" sz="1900" dirty="0"/>
              <a:t>, offering a practical and scalable solution for sequence alignment.</a:t>
            </a: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065717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2641</Words>
  <Application>Microsoft Office PowerPoint</Application>
  <PresentationFormat>Widescreen</PresentationFormat>
  <Paragraphs>275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Franklin Gothic Book</vt:lpstr>
      <vt:lpstr>Wingdings 2,Sans-Serif</vt:lpstr>
      <vt:lpstr>Office Theme</vt:lpstr>
      <vt:lpstr>Genome Sequence Alignment with SSAHA &amp; Smith-Waterman  BY GROUP 4 </vt:lpstr>
      <vt:lpstr>Introduction</vt:lpstr>
      <vt:lpstr>Problem Statement</vt:lpstr>
      <vt:lpstr>Objective</vt:lpstr>
      <vt:lpstr>Overview of Algorithm</vt:lpstr>
      <vt:lpstr>SSAHA</vt:lpstr>
      <vt:lpstr>How SSAHA Works</vt:lpstr>
      <vt:lpstr>Pros and Cons of SSAHA</vt:lpstr>
      <vt:lpstr>Smith-Waterman</vt:lpstr>
      <vt:lpstr>How Smith-Waterman Works</vt:lpstr>
      <vt:lpstr>PowerPoint Presentation</vt:lpstr>
      <vt:lpstr>Pros and Cons of Smith-Waterman</vt:lpstr>
      <vt:lpstr>Why Combine SSAHA &amp; Smith-Waterman?</vt:lpstr>
      <vt:lpstr>Hybrid Approach</vt:lpstr>
      <vt:lpstr>Implementation</vt:lpstr>
      <vt:lpstr>Performance Analysis</vt:lpstr>
      <vt:lpstr>Result Metrics</vt:lpstr>
      <vt:lpstr>Real-World Relevance</vt:lpstr>
      <vt:lpstr>Challenges 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</dc:creator>
  <cp:lastModifiedBy>NAVEEN</cp:lastModifiedBy>
  <cp:revision>2</cp:revision>
  <dcterms:created xsi:type="dcterms:W3CDTF">2025-04-11T17:04:48Z</dcterms:created>
  <dcterms:modified xsi:type="dcterms:W3CDTF">2025-04-11T18:04:56Z</dcterms:modified>
</cp:coreProperties>
</file>